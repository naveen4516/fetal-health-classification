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73152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UE24CS352A • MACHINE LEARNING MINI-PROJECT</a:t>
            </a:r>
          </a:p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Multiclass Classification of Fetal Health</a:t>
            </a:r>
            <a:br/>
            <a:r>
              <a:t>Using Cardiotocogram Data</a:t>
            </a:r>
          </a:p>
          <a:p>
            <a:pPr>
              <a:defRPr sz="1500">
                <a:solidFill>
                  <a:srgbClr val="CBD5E1"/>
                </a:solidFill>
                <a:latin typeface="Calibri"/>
              </a:defRPr>
            </a:pPr>
            <a:r>
              <a:t>Automated CTG diagnosis via comparative benchmarking of 10 machine learning architectures.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4846320" cy="173736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069080"/>
            <a:ext cx="44805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3C5FD"/>
                </a:solidFill>
                <a:latin typeface="Calibri"/>
              </a:defRPr>
            </a:pPr>
            <a:r>
              <a:t>TEAM MEMBER 1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Naveen Prasad M</a:t>
            </a:r>
          </a:p>
          <a:p>
            <a:pPr>
              <a:defRPr sz="1100">
                <a:solidFill>
                  <a:srgbClr val="E2E8F0"/>
                </a:solidFill>
                <a:latin typeface="Calibri"/>
              </a:defRPr>
            </a:pPr>
            <a:r>
              <a:t>Models: XGBoost, Random Forest, MLP (Neural Net), SVM RBF, Logistic Regression</a:t>
            </a:r>
            <a:br/>
            <a:r>
              <a:t>Tasks: Data Preprocessing, Stratified Pipeline &amp; EDA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4846320" cy="173736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4069080"/>
            <a:ext cx="44805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9F6E4"/>
                </a:solidFill>
                <a:latin typeface="Calibri"/>
              </a:defRPr>
            </a:pPr>
            <a:r>
              <a:t>TEAM MEMBER 2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Shreya Hegde</a:t>
            </a:r>
          </a:p>
          <a:p>
            <a:pPr>
              <a:defRPr sz="1100">
                <a:solidFill>
                  <a:srgbClr val="E2E8F0"/>
                </a:solidFill>
                <a:latin typeface="Calibri"/>
              </a:defRPr>
            </a:pPr>
            <a:r>
              <a:t>Models: LightGBM, Gradient Boosting, Decision Tree, Linear SVM, KNN</a:t>
            </a:r>
            <a:br/>
            <a:r>
              <a:t>Tasks: Hyperparameter Tuning, Cross-Validation &amp; Literature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Department of Computer Science &amp; Engineering • PES University, Bengaluru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01 • BACKGROUND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/>
              </a:defRPr>
            </a:pPr>
            <a:r>
              <a:t>Clinical Motivation &amp;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Multiclass Classification of Fetal Health using Cardiotocogram Data • PES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000">
                <a:solidFill>
                  <a:srgbClr val="2563EB"/>
                </a:solidFill>
              </a:defRPr>
            </a:pPr>
            <a:r>
              <a:t>PRIMARY BIO-SIGNALS</a:t>
            </a:r>
          </a:p>
          <a:p>
            <a:pPr>
              <a:defRPr b="1" sz="1400">
                <a:solidFill>
                  <a:srgbClr val="0F2C59"/>
                </a:solidFill>
              </a:defRPr>
            </a:pPr>
            <a:r>
              <a:t>Fetal Heart Rate &amp; Uterine Contractions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Monitored via Cardiotocography (CTG) to track oxygenation, acidemia &amp; distress.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474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000">
                <a:solidFill>
                  <a:srgbClr val="2563EB"/>
                </a:solidFill>
              </a:defRPr>
            </a:pPr>
            <a:r>
              <a:t>DIAGNOSTIC BOTTLENECK</a:t>
            </a:r>
          </a:p>
          <a:p>
            <a:pPr>
              <a:defRPr b="1" sz="1400">
                <a:solidFill>
                  <a:srgbClr val="0F2C59"/>
                </a:solidFill>
              </a:defRPr>
            </a:pPr>
            <a:r>
              <a:t>High Observer Error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Manual visual review exhibits significant intra- &amp; inter-observer variability.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371600"/>
            <a:ext cx="3474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50876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000">
                <a:solidFill>
                  <a:srgbClr val="2563EB"/>
                </a:solidFill>
              </a:defRPr>
            </a:pPr>
            <a:r>
              <a:t>CLINICAL TARGET</a:t>
            </a:r>
          </a:p>
          <a:p>
            <a:pPr>
              <a:defRPr b="1" sz="1400">
                <a:solidFill>
                  <a:srgbClr val="0F2C59"/>
                </a:solidFill>
              </a:defRPr>
            </a:pPr>
            <a:r>
              <a:t>3-Class Prediction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Categorizing every exam into Normal, Suspect, or Pathological state reliably.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54680"/>
            <a:ext cx="10698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33756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2C59"/>
                </a:solidFill>
              </a:defRPr>
            </a:pPr>
            <a:r>
              <a:t>Project Objectives &amp; Core Deliverables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E3A8A"/>
                </a:solidFill>
              </a:rPr>
              <a:t>• Automate Diagnostic Decision Support: </a:t>
            </a:r>
            <a:r>
              <a:rPr sz="1200">
                <a:solidFill>
                  <a:srgbClr val="1E293B"/>
                </a:solidFill>
              </a:rPr>
              <a:t>Construct robust machine learning models capable of serving as reliable second-opinion tools in obstetrics clinics and resource-constrained environments.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E3A8A"/>
                </a:solidFill>
              </a:rPr>
              <a:t>• Multi-Class Boundary Resolution: </a:t>
            </a:r>
            <a:r>
              <a:rPr sz="1200">
                <a:solidFill>
                  <a:srgbClr val="1E293B"/>
                </a:solidFill>
              </a:rPr>
              <a:t>Overcome severe class imbalance to separate ambiguous 'Suspect' cases from acute 'Pathological' cases with high recall and precision.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E3A8A"/>
                </a:solidFill>
              </a:rPr>
              <a:t>• Rigorous Benchmarking Across 10 Paradigms: </a:t>
            </a:r>
            <a:r>
              <a:rPr sz="1200">
                <a:solidFill>
                  <a:srgbClr val="1E293B"/>
                </a:solidFill>
              </a:rPr>
              <a:t>Compare Linear Models, Kernel Methods, Feedforward Neural Networks, Bagging, and Gradient-Boosted Decision Trees to discover optimal classification boundaries.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1E3A8A"/>
                </a:solidFill>
              </a:rPr>
              <a:t>• Hyperparameter Optimization &amp; Overfitting Assessment: </a:t>
            </a:r>
            <a:r>
              <a:rPr sz="1200">
                <a:solidFill>
                  <a:srgbClr val="1E293B"/>
                </a:solidFill>
              </a:rPr>
              <a:t>Systematically evaluate GridSearchCV cross-validation trade-offs on high-dimensional clinical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02 • DATA EXPLORATION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/>
              </a:defRPr>
            </a:pPr>
            <a:r>
              <a:t>Dataset Characteristics &amp; Preprocessing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Multiclass Classification of Fetal Health using Cardiotocogram Data • PES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4864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2C59"/>
                </a:solidFill>
              </a:defRPr>
            </a:pPr>
            <a:r>
              <a:t>Dataset Overview (Ayres-de-Campos et al.)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E3A8A"/>
                </a:solidFill>
              </a:rPr>
              <a:t>• Sample Volume: </a:t>
            </a:r>
            <a:r>
              <a:rPr sz="1100">
                <a:solidFill>
                  <a:srgbClr val="1E293B"/>
                </a:solidFill>
              </a:rPr>
              <a:t>2,126 raw clinical examinations collected from SisPorto CTG database.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E3A8A"/>
                </a:solidFill>
              </a:rPr>
              <a:t>• Deduplication: </a:t>
            </a:r>
            <a:r>
              <a:rPr sz="1100">
                <a:solidFill>
                  <a:srgbClr val="1E293B"/>
                </a:solidFill>
              </a:rPr>
              <a:t>Identified &amp; pruned 13 duplicate recordings; 2,113 unique patient records retained.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E3A8A"/>
                </a:solidFill>
              </a:rPr>
              <a:t>• Feature Space (21 continuous): </a:t>
            </a:r>
            <a:r>
              <a:rPr sz="1100">
                <a:solidFill>
                  <a:srgbClr val="1E293B"/>
                </a:solidFill>
              </a:rPr>
              <a:t>Baseline heart rate, accelerations, uterine contractions, 3 deceleration types, short/long-term variability, and 10 histogram morphometrics.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E3A8A"/>
                </a:solidFill>
              </a:rPr>
              <a:t>• Standardization: </a:t>
            </a:r>
            <a:r>
              <a:rPr sz="1100">
                <a:solidFill>
                  <a:srgbClr val="1E293B"/>
                </a:solidFill>
              </a:rPr>
              <a:t>StandardScaler applied across all 21 features (zero mean, unit variance) to prevent distance-metric dominance in KNN &amp; SVM.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E3A8A"/>
                </a:solidFill>
              </a:rPr>
              <a:t>• Stratified Split (70/30): </a:t>
            </a:r>
            <a:r>
              <a:rPr sz="1100">
                <a:solidFill>
                  <a:srgbClr val="1E293B"/>
                </a:solidFill>
              </a:rPr>
              <a:t>1,479 training / 634 testing samples partitioned using stratified sampling to guarantee identical class representation in train and test splits.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371600"/>
            <a:ext cx="49377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00200"/>
            <a:ext cx="4572000" cy="3429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75120" y="5212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Trimodal Class Breakdown:</a:t>
            </a:r>
            <a:br/>
            <a:r>
              <a:t>• Class 1 (Normal): 1,646 (77.9%)</a:t>
            </a:r>
            <a:br/>
            <a:r>
              <a:t>• Class 2 (Suspect): 292 (13.8%)</a:t>
            </a:r>
            <a:br/>
            <a:r>
              <a:t>• Class 3 (Pathological): 175 (8.3%)</a:t>
            </a:r>
            <a:br/>
            <a:r>
              <a:t>Key insight: Severe minority imbalance requires evaluation via F1-scores.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03 • FEATURE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/>
              </a:defRPr>
            </a:pPr>
            <a:r>
              <a:t>Exploratory Analysis &amp; Key Clinical Biomarkers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Multiclass Classification of Fetal Health using Cardiotocogram Data • PES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3035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4937760" cy="395020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371600"/>
            <a:ext cx="51206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5448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2C59"/>
                </a:solidFill>
              </a:defRPr>
            </a:pPr>
            <a:r>
              <a:t>Top Clinical Biomarkers (SelectKBest ANOVA)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E3A8A"/>
                </a:solidFill>
              </a:rPr>
              <a:t>• Prolonged Decelerations (F: 505.85): </a:t>
            </a:r>
            <a:r>
              <a:rPr sz="1050">
                <a:solidFill>
                  <a:srgbClr val="1E293B"/>
                </a:solidFill>
              </a:rPr>
              <a:t>Ranked #1 predictor by a substantial margin. Prolonged drop in fetal heart rate is a direct medical sign of acute intrapartum hypoxemia.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E3A8A"/>
                </a:solidFill>
              </a:rPr>
              <a:t>• Abnormal Long-Term Variability (F: 345.16): </a:t>
            </a:r>
            <a:r>
              <a:rPr sz="1050">
                <a:solidFill>
                  <a:srgbClr val="1E293B"/>
                </a:solidFill>
              </a:rPr>
              <a:t>Percentage of recording with diminished cyclic variability indicates compromised fetal autonomic nervous control.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E3A8A"/>
                </a:solidFill>
              </a:rPr>
              <a:t>• Abnormal Short-Term Variability (F: 343.82): </a:t>
            </a:r>
            <a:r>
              <a:rPr sz="1050">
                <a:solidFill>
                  <a:srgbClr val="1E293B"/>
                </a:solidFill>
              </a:rPr>
              <a:t>Loss of beat-to-beat variability strongly differentiates healthy fetuses from acidemic ones.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E3A8A"/>
                </a:solidFill>
              </a:rPr>
              <a:t>• Histogram Morphometrics (Mean / Mode / Median): </a:t>
            </a:r>
            <a:r>
              <a:rPr sz="1050">
                <a:solidFill>
                  <a:srgbClr val="1E293B"/>
                </a:solidFill>
              </a:rPr>
              <a:t>Central tendency of FHR distribution provides essential baseline context for identifying tachycardia or bradycardia.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E3A8A"/>
                </a:solidFill>
              </a:rPr>
              <a:t>• Low Predictive Power Features: </a:t>
            </a:r>
            <a:r>
              <a:rPr sz="1050">
                <a:solidFill>
                  <a:srgbClr val="1E293B"/>
                </a:solidFill>
              </a:rPr>
              <a:t>Severe decelerations and histogram number of zeroes exhibited minimal variance across classes and had low individual scores.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04 • SYSTEM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/>
              </a:defRPr>
            </a:pPr>
            <a:r>
              <a:t>Team Responsibilities &amp; Workload Bifurcation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Multiclass Classification of Fetal Health using Cardiotocogram Data • PES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E3A8A"/>
                </a:solidFill>
              </a:defRPr>
            </a:pPr>
            <a:r>
              <a:t>Naveen Prasad M</a:t>
            </a:r>
          </a:p>
          <a:p>
            <a:pPr>
              <a:defRPr b="1" sz="1100">
                <a:solidFill>
                  <a:srgbClr val="2563EB"/>
                </a:solidFill>
              </a:defRPr>
            </a:pPr>
            <a:r>
              <a:t>Pipeline Architecture &amp; 5 Model Implementations</a:t>
            </a:r>
          </a:p>
          <a:p>
            <a:pPr>
              <a:spcBef>
                <a:spcPts val="500"/>
              </a:spcBef>
            </a:pPr>
            <a:r>
              <a:rPr sz="1050"/>
              <a:t>• XGBoost Classifier: </a:t>
            </a:r>
            <a:r>
              <a:rPr sz="1000">
                <a:solidFill>
                  <a:srgbClr val="1E293B"/>
                </a:solidFill>
              </a:rPr>
              <a:t>Extreme Gradient Boosting with tree-level L1/L2 regularization to control overfitting on tabular data.</a:t>
            </a:r>
          </a:p>
          <a:p>
            <a:pPr>
              <a:spcBef>
                <a:spcPts val="500"/>
              </a:spcBef>
            </a:pPr>
            <a:r>
              <a:rPr sz="1050"/>
              <a:t>• Random Forest Classifier: </a:t>
            </a:r>
            <a:r>
              <a:rPr sz="1000">
                <a:solidFill>
                  <a:srgbClr val="1E293B"/>
                </a:solidFill>
              </a:rPr>
              <a:t>Bagging ensemble of 100 decorrelated decision trees using bootstrap aggregation.</a:t>
            </a:r>
          </a:p>
          <a:p>
            <a:pPr>
              <a:spcBef>
                <a:spcPts val="500"/>
              </a:spcBef>
            </a:pPr>
            <a:r>
              <a:rPr sz="1050"/>
              <a:t>• Multi-Layer Perceptron (MLP): </a:t>
            </a:r>
            <a:r>
              <a:rPr sz="1000">
                <a:solidFill>
                  <a:srgbClr val="1E293B"/>
                </a:solidFill>
              </a:rPr>
              <a:t>Feedforward Deep Artificial Neural Network (100 hidden neurons, ReLU, Adam optimizer).</a:t>
            </a:r>
          </a:p>
          <a:p>
            <a:pPr>
              <a:spcBef>
                <a:spcPts val="500"/>
              </a:spcBef>
            </a:pPr>
            <a:r>
              <a:rPr sz="1050"/>
              <a:t>• Support Vector Machine (RBF): </a:t>
            </a:r>
            <a:r>
              <a:rPr sz="1000">
                <a:solidFill>
                  <a:srgbClr val="1E293B"/>
                </a:solidFill>
              </a:rPr>
              <a:t>Non-linear kernel mapping projecting 21 features into infinite-dimensional Hilbert space.</a:t>
            </a:r>
          </a:p>
          <a:p>
            <a:pPr>
              <a:spcBef>
                <a:spcPts val="500"/>
              </a:spcBef>
            </a:pPr>
            <a:r>
              <a:rPr sz="1050"/>
              <a:t>• Logistic Regression: </a:t>
            </a:r>
            <a:r>
              <a:rPr sz="1000">
                <a:solidFill>
                  <a:srgbClr val="1E293B"/>
                </a:solidFill>
              </a:rPr>
              <a:t>Multi-class cross-entropy linear baseline with L2 penalty.</a:t>
            </a:r>
          </a:p>
          <a:p>
            <a:pPr>
              <a:spcBef>
                <a:spcPts val="500"/>
              </a:spcBef>
            </a:pPr>
            <a:r>
              <a:rPr sz="1050"/>
              <a:t>• Engineering Roles: </a:t>
            </a:r>
            <a:r>
              <a:rPr sz="1000">
                <a:solidFill>
                  <a:srgbClr val="1E293B"/>
                </a:solidFill>
              </a:rPr>
              <a:t>Repository setup, dataset deduplication, StandardScaler implementation, and stratified train/test partitioning.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5448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D9488"/>
                </a:solidFill>
              </a:defRPr>
            </a:pPr>
            <a:r>
              <a:t>Shreya Hegde</a:t>
            </a:r>
          </a:p>
          <a:p>
            <a:pPr>
              <a:defRPr b="1" sz="1100">
                <a:solidFill>
                  <a:srgbClr val="0D9488"/>
                </a:solidFill>
              </a:defRPr>
            </a:pPr>
            <a:r>
              <a:t>Comparative Benchmarking &amp; 5 Model Implementations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0D9488"/>
                </a:solidFill>
              </a:rPr>
              <a:t>• LightGBM Classifier: </a:t>
            </a:r>
            <a:r>
              <a:rPr sz="1000">
                <a:solidFill>
                  <a:srgbClr val="1E293B"/>
                </a:solidFill>
              </a:rPr>
              <a:t>Gradient boosting framework with leaf-wise tree growth and histogram binning for maximum speed &amp; accuracy.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0D9488"/>
                </a:solidFill>
              </a:rPr>
              <a:t>• Gradient Boosting Classifier: </a:t>
            </a:r>
            <a:r>
              <a:rPr sz="1000">
                <a:solidFill>
                  <a:srgbClr val="1E293B"/>
                </a:solidFill>
              </a:rPr>
              <a:t>Standard sequential residual error correction using weak learning regression trees.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0D9488"/>
                </a:solidFill>
              </a:rPr>
              <a:t>• Decision Tree (CART): </a:t>
            </a:r>
            <a:r>
              <a:rPr sz="1000">
                <a:solidFill>
                  <a:srgbClr val="1E293B"/>
                </a:solidFill>
              </a:rPr>
              <a:t>Single white-box tree using Gini impurity splits for direct decision interpretability.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0D9488"/>
                </a:solidFill>
              </a:rPr>
              <a:t>• Linear SVM: </a:t>
            </a:r>
            <a:r>
              <a:rPr sz="1000">
                <a:solidFill>
                  <a:srgbClr val="1E293B"/>
                </a:solidFill>
              </a:rPr>
              <a:t>Hyperplane maximum margin classifier exploring whether CTG features are linearly separable.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0D9488"/>
                </a:solidFill>
              </a:rPr>
              <a:t>• K-Nearest Neighbors (KNN): </a:t>
            </a:r>
            <a:r>
              <a:rPr sz="1000">
                <a:solidFill>
                  <a:srgbClr val="1E293B"/>
                </a:solidFill>
              </a:rPr>
              <a:t>Instance-based Euclidean distance classifier querying 5 nearest training samples.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0D9488"/>
                </a:solidFill>
              </a:rPr>
              <a:t>• Engineering Roles: </a:t>
            </a:r>
            <a:r>
              <a:rPr sz="1000">
                <a:solidFill>
                  <a:srgbClr val="1E293B"/>
                </a:solidFill>
              </a:rPr>
              <a:t>GridSearchCV 3-fold hyperparameter optimization on LightGBM, cross-validation tuning analysis, and literature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05 • EXPERIMENTAL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/>
              </a:defRPr>
            </a:pPr>
            <a:r>
              <a:t>Comprehensive 10-Model Benchmark Leaderboard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Multiclass Classification of Fetal Health using Cardiotocogram Data • PES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62179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ll_10_model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08760"/>
            <a:ext cx="5943600" cy="32689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32320" y="1371600"/>
            <a:ext cx="42976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554480"/>
            <a:ext cx="3931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2C59"/>
                </a:solidFill>
              </a:defRPr>
            </a:pPr>
            <a:r>
              <a:t>Key Evaluation Insights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E3A8A"/>
                </a:solidFill>
              </a:rPr>
              <a:t>• Boosting Supremacy (&gt;95%): </a:t>
            </a:r>
            <a:r>
              <a:rPr sz="1050">
                <a:solidFill>
                  <a:srgbClr val="1E293B"/>
                </a:solidFill>
              </a:rPr>
              <a:t>LightGBM (95.89%), XGBoost (95.27%), and Gradient Boosting (95.11%) represent the top tier, matching published Stanford benchmarks.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E3A8A"/>
                </a:solidFill>
              </a:rPr>
              <a:t>• Random Forest Reliability: </a:t>
            </a:r>
            <a:r>
              <a:rPr sz="1050">
                <a:solidFill>
                  <a:srgbClr val="1E293B"/>
                </a:solidFill>
              </a:rPr>
              <a:t>Random Forest achieved 94.79% accuracy with 0.97 F1 on Normal samples, proving high robustness via bagging.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E3A8A"/>
                </a:solidFill>
              </a:rPr>
              <a:t>• Deep Learning Competitive: </a:t>
            </a:r>
            <a:r>
              <a:rPr sz="1050">
                <a:solidFill>
                  <a:srgbClr val="1E293B"/>
                </a:solidFill>
              </a:rPr>
              <a:t>MLP achieved 92.27%, outperforming SVM and KNN, showing neural networks can model complex multi-layer interactions.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E3A8A"/>
                </a:solidFill>
              </a:rPr>
              <a:t>• Linear Baselines Struggle (&lt;90%): </a:t>
            </a:r>
            <a:r>
              <a:rPr sz="1050">
                <a:solidFill>
                  <a:srgbClr val="1E293B"/>
                </a:solidFill>
              </a:rPr>
              <a:t>Linear SVM (89.90%) and Logistic Regression (89.43%) establish that the biological CTG decision boundaries are strictly non-linear.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E3A8A"/>
                </a:solidFill>
              </a:rPr>
              <a:t>• KNN Boundary Sensitivity: </a:t>
            </a:r>
            <a:r>
              <a:rPr sz="1050">
                <a:solidFill>
                  <a:srgbClr val="1E293B"/>
                </a:solidFill>
              </a:rPr>
              <a:t>KNN (88.80%) had the lowest recall on the minority 'Suspect' class (0.57) due to high-dimensional metric distortion.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06 • IN-DEPTH ARCHITECTURE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/>
              </a:defRPr>
            </a:pPr>
            <a:r>
              <a:t>Deep Dive: Top Performers (LightGBM vs XGBoost)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Multiclass Classification of Fetal Health using Cardiotocogram Data • PES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67665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op_models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37360"/>
            <a:ext cx="6492240" cy="276366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80960" y="1371600"/>
            <a:ext cx="3749039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55448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2C59"/>
                </a:solidFill>
              </a:defRPr>
            </a:pPr>
            <a:r>
              <a:t>Clinical Reliability Analysis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E3A8A"/>
                </a:solidFill>
              </a:rPr>
              <a:t>• Zero False Alarms in XGBoost: </a:t>
            </a:r>
            <a:r>
              <a:rPr sz="1050">
                <a:solidFill>
                  <a:srgbClr val="1E293B"/>
                </a:solidFill>
              </a:rPr>
              <a:t>XGBoost achieved a perfect 1.00 precision on the Pathological class (48/48 true positives, 0 false positives). In clinical practice, false positive alarms induce costly emergency c-sections.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E3A8A"/>
                </a:solidFill>
              </a:rPr>
              <a:t>• Superior Recall in LightGBM: </a:t>
            </a:r>
            <a:r>
              <a:rPr sz="1050">
                <a:solidFill>
                  <a:srgbClr val="1E293B"/>
                </a:solidFill>
              </a:rPr>
              <a:t>LightGBM achieved 0.98 recall on the Pathological class (detecting 51/52 distressed fetuses). Only 1 critical case was missed.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E3A8A"/>
                </a:solidFill>
              </a:rPr>
              <a:t>• Leaf-Wise vs Level-Wise: </a:t>
            </a:r>
            <a:r>
              <a:rPr sz="1050">
                <a:solidFill>
                  <a:srgbClr val="1E293B"/>
                </a:solidFill>
              </a:rPr>
              <a:t>LightGBM splits leaf-wise to minimize loss, yielding better resolution on nuanced 'Suspect' boundaries (0.84 F1-score vs 0.83 in XGBoost).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07 •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/>
              </a:defRPr>
            </a:pPr>
            <a:r>
              <a:t>Hyperparameter Tuning &amp; Overfitting Dynamics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Multiclass Classification of Fetal Health using Cardiotocogram Data • PES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1E3A8A"/>
                </a:solidFill>
              </a:defRPr>
            </a:pPr>
            <a:r>
              <a:t>BASE LIGHTGBM</a:t>
            </a:r>
          </a:p>
          <a:p>
            <a:pPr>
              <a:defRPr b="1" sz="1800">
                <a:solidFill>
                  <a:srgbClr val="0F2C59"/>
                </a:solidFill>
              </a:defRPr>
            </a:pPr>
            <a:r>
              <a:t>95.89% Accuracy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Default Parameters:</a:t>
            </a:r>
            <a:br/>
            <a:r>
              <a:t>• n_estimators: 200</a:t>
            </a:r>
            <a:br/>
            <a:r>
              <a:t>• learning_rate: 0.1</a:t>
            </a:r>
            <a:br/>
            <a:r>
              <a:t>• num_leaves: 31</a:t>
            </a:r>
            <a:br/>
            <a:br/>
            <a:r>
              <a:t>Optimal generalization across all 3 classes without aggressive fold tuning.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2563EB"/>
                </a:solidFill>
              </a:defRPr>
            </a:pPr>
            <a:r>
              <a:t>3-FOLD GRIDSEARCHCV</a:t>
            </a:r>
          </a:p>
          <a:p>
            <a:pPr>
              <a:defRPr b="1" sz="1800">
                <a:solidFill>
                  <a:srgbClr val="0F2C59"/>
                </a:solidFill>
              </a:defRPr>
            </a:pPr>
            <a:r>
              <a:t>94.25% CV Score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Tuning Grid:</a:t>
            </a:r>
            <a:br/>
            <a:r>
              <a:t>• n_estimators: [100, 200, 300]</a:t>
            </a:r>
            <a:br/>
            <a:r>
              <a:t>• learning_rate: [0.05, 0.1, 0.2]</a:t>
            </a:r>
            <a:br/>
            <a:r>
              <a:t>• num_leaves: [15, 31, 63]</a:t>
            </a:r>
            <a:br/>
            <a:r>
              <a:t>Best params: lr=0.1, n_est=200, leaves=15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37160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5087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D9488"/>
                </a:solidFill>
              </a:defRPr>
            </a:pPr>
            <a:r>
              <a:t>TUNED TEST RESULT</a:t>
            </a:r>
          </a:p>
          <a:p>
            <a:pPr>
              <a:defRPr b="1" sz="1800">
                <a:solidFill>
                  <a:srgbClr val="0F2C59"/>
                </a:solidFill>
              </a:defRPr>
            </a:pPr>
            <a:r>
              <a:t>95.58% Accuracy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Post-Tuning Test Score:</a:t>
            </a:r>
            <a:br/>
            <a:r>
              <a:t>• Slight drop (-0.31%)</a:t>
            </a:r>
            <a:br/>
            <a:r>
              <a:t>• Precision on Suspect: 0.89</a:t>
            </a:r>
            <a:br/>
            <a:r>
              <a:t>• Recall on Suspect: 0.80</a:t>
            </a:r>
            <a:br/>
            <a:br/>
            <a:r>
              <a:t>Confirming in-sample overfitting phenomenon.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106984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94760"/>
            <a:ext cx="10149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2C59"/>
                </a:solidFill>
              </a:defRPr>
            </a:pPr>
            <a:r>
              <a:t>Why Did Hyperparameter Tuning Lower the Test Score?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E3A8A"/>
                </a:solidFill>
              </a:rPr>
              <a:t>• The 'In-Sample Overfitting' Dilemma: </a:t>
            </a:r>
            <a:r>
              <a:rPr sz="1050">
                <a:solidFill>
                  <a:srgbClr val="1E293B"/>
                </a:solidFill>
              </a:rPr>
              <a:t>Gradient Boosting algorithms are highly expressive. When GridSearchCV searches across multiple hyperparameter combinations on a modest sample size (1,479 training instances), the model fits specific cross-validation fold noise rather than the universal clinical distribution.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E3A8A"/>
                </a:solidFill>
              </a:rPr>
              <a:t>• Alignment with Academic Literature: </a:t>
            </a:r>
            <a:r>
              <a:rPr sz="1050">
                <a:solidFill>
                  <a:srgbClr val="1E293B"/>
                </a:solidFill>
              </a:rPr>
              <a:t>This exact pattern was observed by JR Ereyi &amp; Marc Huo (Stanford CTG study), where default tree constraints generalized better on the held-out test split than the cross-validated hyperparameters.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E3A8A"/>
                </a:solidFill>
              </a:rPr>
              <a:t>• Engineering Takeaway: </a:t>
            </a:r>
            <a:r>
              <a:rPr sz="1050">
                <a:solidFill>
                  <a:srgbClr val="1E293B"/>
                </a:solidFill>
              </a:rPr>
              <a:t>In high-stakes biomedical classification, default conservative regularization often shields against subtle distribution shifts better than unconstrained hyperparameter exploration.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08 • SUMMARY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C59"/>
                </a:solidFill>
                <a:latin typeface="Calibri"/>
              </a:defRPr>
            </a:pPr>
            <a:r>
              <a:t>Project Conclusions &amp; Clinical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Multiclass Classification of Fetal Health using Cardiotocogram Data • PES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E3A8A"/>
                </a:solidFill>
              </a:defRPr>
            </a:pPr>
            <a:r>
              <a:t>1. Ensemble Boosting Dominance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Gradient boosting architectures (LightGBM at 95.89% and XGBoost at 95.27%) consistently outperformed linear and distance models by 6–7%. Non-linear interaction between prolonged decelerations and baseline FHR variability is critical.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E3A8A"/>
                </a:solidFill>
              </a:defRPr>
            </a:pPr>
            <a:r>
              <a:t>2. Reliable Pathological Detection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Despite severe class imbalance (8.3% prevalence), the top models attained 94–98% recall and up to 100% precision on pathological fetal distress, proving automated triage is clinically viable.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23360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E3A8A"/>
                </a:solidFill>
              </a:defRPr>
            </a:pPr>
            <a:r>
              <a:t>3. Linear Separability Limits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Linear SVM and Logistic Regression plateaued below 90%, proving that medical CTG diagnosis cannot be reduced to simple linear planes and requires deep or ensemble architectures.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84048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23360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E3A8A"/>
                </a:solidFill>
              </a:defRPr>
            </a:pPr>
            <a:r>
              <a:t>4. Clinical Roadmap &amp; Next Steps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Future work will introduce synthetic minority oversampling (SMOTE), cost-sensitive loss penalties to heavily weight missed distress cases, and containerized deployment for real-time telemetry.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8BDF8"/>
                </a:solidFill>
              </a:defRPr>
            </a:pPr>
            <a:r>
              <a:t>UE24CS352A • MACHINE LEARNING MINI-PROJECT</a:t>
            </a:r>
          </a:p>
          <a:p>
            <a:pPr>
              <a:spcBef>
                <a:spcPts val="800"/>
              </a:spcBef>
              <a:defRPr b="1" sz="3600">
                <a:solidFill>
                  <a:srgbClr val="FFFFFF"/>
                </a:solidFill>
              </a:defRPr>
            </a:pPr>
            <a:r>
              <a:t>Live Demonstration &amp; Q&amp;A Session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</a:defRPr>
            </a:pPr>
            <a:r>
              <a:t>Ready for live execution walkthrough of code repository:</a:t>
            </a:r>
            <a:br/>
            <a:r>
              <a:t>• 01_EDA.py (Feature distributions &amp; SelectKBest rankings)</a:t>
            </a:r>
            <a:br/>
            <a:r>
              <a:t>• 02_preprocessing.py (StandardScaler &amp; 70/30 stratified train-test splits)</a:t>
            </a:r>
            <a:br/>
            <a:r>
              <a:t>• 03_models_member1.py (XGBoost, Random Forest, MLP, SVM RBF, Logistic Regression)</a:t>
            </a:r>
            <a:br/>
            <a:r>
              <a:t>• 04_models_member2.py (LightGBM, Gradient Boosting, Decision Tree, Linear SVM, KNN)</a:t>
            </a:r>
          </a:p>
          <a:p>
            <a:pPr>
              <a:spcBef>
                <a:spcPts val="2500"/>
              </a:spcBef>
              <a:defRPr b="1" sz="1400">
                <a:solidFill>
                  <a:srgbClr val="93C5FD"/>
                </a:solidFill>
              </a:defRPr>
            </a:pPr>
            <a:r>
              <a:t>Thank You! Questions and feedback are welcome.</a:t>
            </a:r>
            <a:br/>
            <a:r>
              <a:t>Presenters: Naveen Prasad M &amp; Shreya Hegde • PES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